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PH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PH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B6AE2263-B344-448B-BAEB-C04B6549DE5F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8/28/26</a:t>
            </a:fld>
            <a:endParaRPr b="0" lang="en-PH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PH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E6CA116-C21B-4E20-9331-EB843F42C61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PH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CustomShape 2"/>
          <p:cNvSpPr/>
          <p:nvPr/>
        </p:nvSpPr>
        <p:spPr>
          <a:xfrm>
            <a:off x="0" y="0"/>
            <a:ext cx="329148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CustomShape 3"/>
          <p:cNvSpPr/>
          <p:nvPr/>
        </p:nvSpPr>
        <p:spPr>
          <a:xfrm>
            <a:off x="3960000" y="2016000"/>
            <a:ext cx="2377080" cy="14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94a3b8"/>
                </a:solidFill>
                <a:latin typeface="Calibri"/>
              </a:rPr>
              <a:t>ENTERPRISE CATERING SYSTEM</a:t>
            </a:r>
            <a:endParaRPr b="0" lang="en-PH" sz="950" spc="-1" strike="noStrike"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3960000" y="2374920"/>
            <a:ext cx="2455920" cy="14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94a3b8"/>
                </a:solidFill>
                <a:latin typeface="Calibri"/>
              </a:rPr>
              <a:t>PC BACK-OFFICE  +  TABLET KIOSK</a:t>
            </a:r>
            <a:endParaRPr b="0" lang="en-PH" sz="95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3960000" y="292680"/>
            <a:ext cx="7680600" cy="150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3300" spc="-1" strike="noStrike">
                <a:solidFill>
                  <a:srgbClr val="0f172a"/>
                </a:solidFill>
                <a:latin typeface="Georgia"/>
                <a:ea typeface="Noto Sans CJK SC"/>
              </a:rPr>
              <a:t>Jayraldine's Catering Management </a:t>
            </a:r>
            <a:r>
              <a:rPr b="1" lang="en-US" sz="3300" spc="-1" strike="noStrike">
                <a:solidFill>
                  <a:srgbClr val="0f172a"/>
                </a:solidFill>
                <a:latin typeface="Georgia"/>
              </a:rPr>
              <a:t>&amp; Self-Service Kiosk System</a:t>
            </a:r>
            <a:endParaRPr b="0" lang="en-PH" sz="3300" spc="-1" strike="noStrike"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>
            <a:off x="3794760" y="3520440"/>
            <a:ext cx="768060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CustomShape 7"/>
          <p:cNvSpPr/>
          <p:nvPr/>
        </p:nvSpPr>
        <p:spPr>
          <a:xfrm>
            <a:off x="3794760" y="3840480"/>
            <a:ext cx="2377080" cy="14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64748b"/>
                </a:solidFill>
                <a:latin typeface="Calibri"/>
              </a:rPr>
              <a:t>CLIENT</a:t>
            </a:r>
            <a:endParaRPr b="0" lang="en-PH" sz="950" spc="-1" strike="noStrike">
              <a:latin typeface="Arial"/>
            </a:endParaRPr>
          </a:p>
        </p:txBody>
      </p:sp>
      <p:sp>
        <p:nvSpPr>
          <p:cNvPr id="48" name="CustomShape 8"/>
          <p:cNvSpPr/>
          <p:nvPr/>
        </p:nvSpPr>
        <p:spPr>
          <a:xfrm>
            <a:off x="3794760" y="4096440"/>
            <a:ext cx="7680600" cy="22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450" spc="-1" strike="noStrike">
                <a:solidFill>
                  <a:srgbClr val="0f172a"/>
                </a:solidFill>
                <a:latin typeface="Calibri"/>
              </a:rPr>
              <a:t>Jayraldine's Catering Services</a:t>
            </a:r>
            <a:endParaRPr b="0" lang="en-PH" sz="1450" spc="-1" strike="noStrike">
              <a:latin typeface="Arial"/>
            </a:endParaRPr>
          </a:p>
        </p:txBody>
      </p:sp>
      <p:sp>
        <p:nvSpPr>
          <p:cNvPr id="49" name="CustomShape 9"/>
          <p:cNvSpPr/>
          <p:nvPr/>
        </p:nvSpPr>
        <p:spPr>
          <a:xfrm>
            <a:off x="3794760" y="4617720"/>
            <a:ext cx="2377080" cy="14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64748b"/>
                </a:solidFill>
                <a:latin typeface="Calibri"/>
              </a:rPr>
              <a:t>PRESENTED BY</a:t>
            </a:r>
            <a:endParaRPr b="0" lang="en-PH" sz="950" spc="-1" strike="noStrike">
              <a:latin typeface="Arial"/>
            </a:endParaRPr>
          </a:p>
        </p:txBody>
      </p:sp>
      <p:sp>
        <p:nvSpPr>
          <p:cNvPr id="50" name="CustomShape 10"/>
          <p:cNvSpPr/>
          <p:nvPr/>
        </p:nvSpPr>
        <p:spPr>
          <a:xfrm>
            <a:off x="3794760" y="4873680"/>
            <a:ext cx="7680600" cy="88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450" spc="-1" strike="noStrike">
                <a:solidFill>
                  <a:srgbClr val="0f172a"/>
                </a:solidFill>
                <a:latin typeface="Calibri"/>
              </a:rPr>
              <a:t>1. Armenta, Mikka</a:t>
            </a:r>
            <a:endParaRPr b="0" lang="en-PH" sz="14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50" spc="-1" strike="noStrike">
                <a:solidFill>
                  <a:srgbClr val="0f172a"/>
                </a:solidFill>
                <a:latin typeface="Calibri"/>
              </a:rPr>
              <a:t>2. Ilustrisimo, Daniel Grant</a:t>
            </a:r>
            <a:endParaRPr b="0" lang="en-PH" sz="14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50" spc="-1" strike="noStrike">
                <a:solidFill>
                  <a:srgbClr val="0f172a"/>
                </a:solidFill>
                <a:latin typeface="Calibri"/>
              </a:rPr>
              <a:t>3. Navarro, Rey Anderson</a:t>
            </a:r>
            <a:endParaRPr b="0" lang="en-PH" sz="14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50" spc="-1" strike="noStrike">
                <a:solidFill>
                  <a:srgbClr val="0f172a"/>
                </a:solidFill>
                <a:latin typeface="Calibri"/>
              </a:rPr>
              <a:t>4. Villarias, Medy</a:t>
            </a:r>
            <a:endParaRPr b="0" lang="en-PH" sz="1450" spc="-1" strike="noStrike">
              <a:latin typeface="Arial"/>
            </a:endParaRPr>
          </a:p>
        </p:txBody>
      </p:sp>
      <p:sp>
        <p:nvSpPr>
          <p:cNvPr id="51" name="CustomShape 11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CustomShape 12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53" name="CustomShape 13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01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EXECUTIVE OVERVIEW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57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Executive Summary &amp; Project Scope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58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High-level overview of the dual-platform catering ecosystem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59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CustomShape 8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CustomShape 9"/>
          <p:cNvSpPr/>
          <p:nvPr/>
        </p:nvSpPr>
        <p:spPr>
          <a:xfrm>
            <a:off x="64008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CustomShape 10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C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64" name="CustomShape 11"/>
          <p:cNvSpPr/>
          <p:nvPr/>
        </p:nvSpPr>
        <p:spPr>
          <a:xfrm>
            <a:off x="140832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Client &amp; Objective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65" name="CustomShape 12"/>
          <p:cNvSpPr/>
          <p:nvPr/>
        </p:nvSpPr>
        <p:spPr>
          <a:xfrm>
            <a:off x="89604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CustomShape 13"/>
          <p:cNvSpPr/>
          <p:nvPr/>
        </p:nvSpPr>
        <p:spPr>
          <a:xfrm>
            <a:off x="896040" y="2624400"/>
            <a:ext cx="4797000" cy="131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Client: Jayraldine's Catering Services 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Classification: Enterprise Catering ERP + Touch Kiosk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Primary Goal: Automate manual paperwork, order estimation, and financial accounting.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Target Users: Owner and Catering Clients.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67" name="CustomShape 14"/>
          <p:cNvSpPr/>
          <p:nvPr/>
        </p:nvSpPr>
        <p:spPr>
          <a:xfrm>
            <a:off x="624204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CustomShape 15"/>
          <p:cNvSpPr/>
          <p:nvPr/>
        </p:nvSpPr>
        <p:spPr>
          <a:xfrm>
            <a:off x="649836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D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69" name="CustomShape 16"/>
          <p:cNvSpPr/>
          <p:nvPr/>
        </p:nvSpPr>
        <p:spPr>
          <a:xfrm>
            <a:off x="701028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Dual-Platform Architecture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70" name="CustomShape 17"/>
          <p:cNvSpPr/>
          <p:nvPr/>
        </p:nvSpPr>
        <p:spPr>
          <a:xfrm>
            <a:off x="649836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CustomShape 18"/>
          <p:cNvSpPr/>
          <p:nvPr/>
        </p:nvSpPr>
        <p:spPr>
          <a:xfrm>
            <a:off x="649836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Windows PC Suite (Catering_Present): Back-office control center for billing, invoices, calendar, expenses, and AI.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Portable Field Kiosk (Tablet / APK): 100% offline self-service ordering terminal for bridal fairs, tastings, and venues.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2-Way Data Synchronization: Seamless master sync via Excel templates and SQLite database export/import.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Zero Subscription Fees: Local data ownership with zero monthly cloud SaaS costs.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72" name="CustomShape 19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CustomShape 20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74" name="CustomShape 21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02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PROBLEM &amp; SOLUTION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78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Operational Problems vs Proposed Solutions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79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Direct business impact and problem resolution matrix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80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8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9"/>
          <p:cNvSpPr/>
          <p:nvPr/>
        </p:nvSpPr>
        <p:spPr>
          <a:xfrm>
            <a:off x="640080" y="1691640"/>
            <a:ext cx="344160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10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dc262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M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85" name="CustomShape 11"/>
          <p:cNvSpPr/>
          <p:nvPr/>
        </p:nvSpPr>
        <p:spPr>
          <a:xfrm>
            <a:off x="1408320" y="2027160"/>
            <a:ext cx="241776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Manual Inefficiencies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86" name="CustomShape 12"/>
          <p:cNvSpPr/>
          <p:nvPr/>
        </p:nvSpPr>
        <p:spPr>
          <a:xfrm>
            <a:off x="896040" y="2477880"/>
            <a:ext cx="2929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CustomShape 13"/>
          <p:cNvSpPr/>
          <p:nvPr/>
        </p:nvSpPr>
        <p:spPr>
          <a:xfrm>
            <a:off x="896040" y="2624400"/>
            <a:ext cx="2929680" cy="225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dc2626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Math &amp; Headcount Errors: Handwritten estimation causes balance and pricing mistakes.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dc2626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Unmonitored Expenses: Revenue tracked without Cost of Goods Sold (COGS).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dc2626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Overbooking Risks: Schedule conflicts and excess capacity overload.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dc2626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Remote Disconnectivity: Cloud-only apps fail in remote resort venues.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88" name="CustomShape 14"/>
          <p:cNvSpPr/>
          <p:nvPr/>
        </p:nvSpPr>
        <p:spPr>
          <a:xfrm>
            <a:off x="4374720" y="1691640"/>
            <a:ext cx="344160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CustomShape 15"/>
          <p:cNvSpPr/>
          <p:nvPr/>
        </p:nvSpPr>
        <p:spPr>
          <a:xfrm>
            <a:off x="463068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S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90" name="CustomShape 16"/>
          <p:cNvSpPr/>
          <p:nvPr/>
        </p:nvSpPr>
        <p:spPr>
          <a:xfrm>
            <a:off x="5142960" y="2027160"/>
            <a:ext cx="241776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System Solutions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91" name="CustomShape 17"/>
          <p:cNvSpPr/>
          <p:nvPr/>
        </p:nvSpPr>
        <p:spPr>
          <a:xfrm>
            <a:off x="4630680" y="2477880"/>
            <a:ext cx="2929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CustomShape 18"/>
          <p:cNvSpPr/>
          <p:nvPr/>
        </p:nvSpPr>
        <p:spPr>
          <a:xfrm>
            <a:off x="4630680" y="2624400"/>
            <a:ext cx="2929680" cy="206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Automated Pricing Engine: Exact mathematical calculations for packages, pax, and add-ons.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Net Profit Tracking: Direct deduction of food, labor, and logistics from revenue.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Capacity Hard-Block: Enforces max daily pax limits (e.g. 600 pax/day).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100% Offline-First: Embedded SQLite WASM requires zero internet.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93" name="CustomShape 19"/>
          <p:cNvSpPr/>
          <p:nvPr/>
        </p:nvSpPr>
        <p:spPr>
          <a:xfrm>
            <a:off x="8109360" y="1691640"/>
            <a:ext cx="344160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CustomShape 20"/>
          <p:cNvSpPr/>
          <p:nvPr/>
        </p:nvSpPr>
        <p:spPr>
          <a:xfrm>
            <a:off x="836568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V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95" name="CustomShape 21"/>
          <p:cNvSpPr/>
          <p:nvPr/>
        </p:nvSpPr>
        <p:spPr>
          <a:xfrm>
            <a:off x="8877600" y="2027160"/>
            <a:ext cx="241776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Business Value &amp; ROI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96" name="CustomShape 22"/>
          <p:cNvSpPr/>
          <p:nvPr/>
        </p:nvSpPr>
        <p:spPr>
          <a:xfrm>
            <a:off x="8365680" y="2477880"/>
            <a:ext cx="2929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CustomShape 23"/>
          <p:cNvSpPr/>
          <p:nvPr/>
        </p:nvSpPr>
        <p:spPr>
          <a:xfrm>
            <a:off x="8365680" y="2624400"/>
            <a:ext cx="292968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Speed: Reduces client booking consultation from 45 mins to &lt;5 mins.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Accuracy: 100% error-free invoicing, balance records, and down payments.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Brand Elevation: Sleek touch kiosk builds prestige and client trust.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Full Data Ownership: 100% private SQLite database on physical hardware.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98" name="CustomShape 24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CustomShape 25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100" name="CustomShape 26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03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COMMAND CENTER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104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Executive Dashboard &amp; Customer CRM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105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Real-time oversight, booking pipeline, and loyalty tracking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106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CustomShape 8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CustomShape 9"/>
          <p:cNvSpPr/>
          <p:nvPr/>
        </p:nvSpPr>
        <p:spPr>
          <a:xfrm>
            <a:off x="64008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CustomShape 10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E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11" name="CustomShape 11"/>
          <p:cNvSpPr/>
          <p:nvPr/>
        </p:nvSpPr>
        <p:spPr>
          <a:xfrm>
            <a:off x="140832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Executive Dashboard KPIs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12" name="CustomShape 12"/>
          <p:cNvSpPr/>
          <p:nvPr/>
        </p:nvSpPr>
        <p:spPr>
          <a:xfrm>
            <a:off x="89604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CustomShape 13"/>
          <p:cNvSpPr/>
          <p:nvPr/>
        </p:nvSpPr>
        <p:spPr>
          <a:xfrm>
            <a:off x="89604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Real-Time Revenue: Live gross sales and payment collection ledgers.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Net Profit Margin: Automated computation against operating expenses.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Pipeline Tracker: Visual counts for Inquiries, Confirmed, In-Prep, and Completed.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Capacity Load Alert: Real-time monitoring of daily guest headcount capacity.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14" name="CustomShape 14"/>
          <p:cNvSpPr/>
          <p:nvPr/>
        </p:nvSpPr>
        <p:spPr>
          <a:xfrm>
            <a:off x="624204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CustomShape 15"/>
          <p:cNvSpPr/>
          <p:nvPr/>
        </p:nvSpPr>
        <p:spPr>
          <a:xfrm>
            <a:off x="649836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L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16" name="CustomShape 16"/>
          <p:cNvSpPr/>
          <p:nvPr/>
        </p:nvSpPr>
        <p:spPr>
          <a:xfrm>
            <a:off x="701028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Customer CRM &amp; Loyalty Engine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17" name="CustomShape 17"/>
          <p:cNvSpPr/>
          <p:nvPr/>
        </p:nvSpPr>
        <p:spPr>
          <a:xfrm>
            <a:off x="649836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CustomShape 18"/>
          <p:cNvSpPr/>
          <p:nvPr/>
        </p:nvSpPr>
        <p:spPr>
          <a:xfrm>
            <a:off x="649836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Automated Loyalty Tiers: Customer upgrade matrix (Bronze: 1-2, Silver: 3-5, Gold: 6-9, VIP: 10+ events).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Follow-up Reminder System: Scheduled callbacks and repeat event notifications.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Client History: Comprehensive log of past bookings, venues, and custom dish preferences.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Directory Search: Instant lookup of existing customers during ordering.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19" name="CustomShape 19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CustomShape 20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121" name="CustomShape 21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04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CLIENT EXPERIENCE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Client Ordering Subsystem (6-Step Wizard)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Touch-first guided ordering flow on Tablet and Mobile Kiosks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127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CustomShape 8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CustomShape 9"/>
          <p:cNvSpPr/>
          <p:nvPr/>
        </p:nvSpPr>
        <p:spPr>
          <a:xfrm>
            <a:off x="640080" y="1691640"/>
            <a:ext cx="344160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CustomShape 10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1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32" name="CustomShape 11"/>
          <p:cNvSpPr/>
          <p:nvPr/>
        </p:nvSpPr>
        <p:spPr>
          <a:xfrm>
            <a:off x="1408320" y="1925280"/>
            <a:ext cx="241776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Steps 1 &amp; 2: Setup &amp; Package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33" name="CustomShape 12"/>
          <p:cNvSpPr/>
          <p:nvPr/>
        </p:nvSpPr>
        <p:spPr>
          <a:xfrm>
            <a:off x="896040" y="2477880"/>
            <a:ext cx="2929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CustomShape 13"/>
          <p:cNvSpPr/>
          <p:nvPr/>
        </p:nvSpPr>
        <p:spPr>
          <a:xfrm>
            <a:off x="896040" y="2624400"/>
            <a:ext cx="2929680" cy="212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Step 1 (Customer &amp; Location): Searchable Cebu Municipality/Barangay selector with separated street field.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Step 2 (Event &amp; Package): Touch occasion picker (Weddings, Birthdays, Corporate).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Package Inclusions Viewer: Displays buffet rates, minimum pax, and equipment (chafing dishes, skirting, servers).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35" name="CustomShape 14"/>
          <p:cNvSpPr/>
          <p:nvPr/>
        </p:nvSpPr>
        <p:spPr>
          <a:xfrm>
            <a:off x="4374720" y="1691640"/>
            <a:ext cx="344160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CustomShape 15"/>
          <p:cNvSpPr/>
          <p:nvPr/>
        </p:nvSpPr>
        <p:spPr>
          <a:xfrm>
            <a:off x="463068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2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37" name="CustomShape 16"/>
          <p:cNvSpPr/>
          <p:nvPr/>
        </p:nvSpPr>
        <p:spPr>
          <a:xfrm>
            <a:off x="5142960" y="1925280"/>
            <a:ext cx="241776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Steps 3 &amp; 4: Menu &amp; Add-ons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38" name="CustomShape 17"/>
          <p:cNvSpPr/>
          <p:nvPr/>
        </p:nvSpPr>
        <p:spPr>
          <a:xfrm>
            <a:off x="4630680" y="2477880"/>
            <a:ext cx="2929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CustomShape 18"/>
          <p:cNvSpPr/>
          <p:nvPr/>
        </p:nvSpPr>
        <p:spPr>
          <a:xfrm>
            <a:off x="4630680" y="2624400"/>
            <a:ext cx="2929680" cy="175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Step 3 (Categorized Menu): Grouped dishes (Beef, Pork, Chicken, Seafood, Desserts, Drinks).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Sticky Navigation: Pinned category filter bar stays fixed while scrolling.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Step 4 (Add-ons &amp; Equipment): One-tap upsells for Lechon platters, dessert bars, and sound systems.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40" name="CustomShape 19"/>
          <p:cNvSpPr/>
          <p:nvPr/>
        </p:nvSpPr>
        <p:spPr>
          <a:xfrm>
            <a:off x="8109360" y="1691640"/>
            <a:ext cx="344160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CustomShape 20"/>
          <p:cNvSpPr/>
          <p:nvPr/>
        </p:nvSpPr>
        <p:spPr>
          <a:xfrm>
            <a:off x="836568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3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42" name="CustomShape 21"/>
          <p:cNvSpPr/>
          <p:nvPr/>
        </p:nvSpPr>
        <p:spPr>
          <a:xfrm>
            <a:off x="8877600" y="1925280"/>
            <a:ext cx="241776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Steps 5 &amp; 6: Terms &amp; Receipt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43" name="CustomShape 22"/>
          <p:cNvSpPr/>
          <p:nvPr/>
        </p:nvSpPr>
        <p:spPr>
          <a:xfrm>
            <a:off x="8365680" y="2477880"/>
            <a:ext cx="2929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CustomShape 23"/>
          <p:cNvSpPr/>
          <p:nvPr/>
        </p:nvSpPr>
        <p:spPr>
          <a:xfrm>
            <a:off x="8365680" y="2624400"/>
            <a:ext cx="2929680" cy="193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Step 5 (Billing &amp; Terms): Downpayment tracker (Cash, GCash, Bank) and catering terms agreement.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Step 6 (Pre-Booking Verification): Summary confirmation drawer before committing.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Instant Offline PDF Receipt: Itemized receipt generated and downloaded directly to device storage.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45" name="CustomShape 24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CustomShape 25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147" name="CustomShape 26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05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FINANCE OPERATIONS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Billing, Invoices &amp; Notification Gateway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152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Automated billing enforcement, payment tracking, and messaging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153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CustomShape 8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CustomShape 9"/>
          <p:cNvSpPr/>
          <p:nvPr/>
        </p:nvSpPr>
        <p:spPr>
          <a:xfrm>
            <a:off x="64008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CustomShape 10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I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58" name="CustomShape 11"/>
          <p:cNvSpPr/>
          <p:nvPr/>
        </p:nvSpPr>
        <p:spPr>
          <a:xfrm>
            <a:off x="140832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Commercial Invoicing &amp; Downpayment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59" name="CustomShape 12"/>
          <p:cNvSpPr/>
          <p:nvPr/>
        </p:nvSpPr>
        <p:spPr>
          <a:xfrm>
            <a:off x="89604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CustomShape 13"/>
          <p:cNvSpPr/>
          <p:nvPr/>
        </p:nvSpPr>
        <p:spPr>
          <a:xfrm>
            <a:off x="89604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Official Invoicing: Automated invoice numbering (INV-XXXX) with itemized breakdown.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Downpayment Hard-Lock: Blocks event confirmation without verified downpayment reception (e.g. 30%).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Payment Milestones: Tracks initial deposits, partial balance collections, and settlement dates.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Discounts &amp; Surcharges: Configurable line-item adjustments and tax calculations.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61" name="CustomShape 14"/>
          <p:cNvSpPr/>
          <p:nvPr/>
        </p:nvSpPr>
        <p:spPr>
          <a:xfrm>
            <a:off x="624204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CustomShape 15"/>
          <p:cNvSpPr/>
          <p:nvPr/>
        </p:nvSpPr>
        <p:spPr>
          <a:xfrm>
            <a:off x="649836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N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63" name="CustomShape 16"/>
          <p:cNvSpPr/>
          <p:nvPr/>
        </p:nvSpPr>
        <p:spPr>
          <a:xfrm>
            <a:off x="701028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Multi-Channel Notification Gateway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64" name="CustomShape 17"/>
          <p:cNvSpPr/>
          <p:nvPr/>
        </p:nvSpPr>
        <p:spPr>
          <a:xfrm>
            <a:off x="649836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CustomShape 18"/>
          <p:cNvSpPr/>
          <p:nvPr/>
        </p:nvSpPr>
        <p:spPr>
          <a:xfrm>
            <a:off x="649836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Automated SMTP Email Dispatcher: Sends booking confirmations and PDF invoices to customer email.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SMS Gateway Integration: Real-time SMS alerts via Semaphore API upon approval.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Receipt Printing: One-click high-resolution PDF export and commercial printing.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Communication Logs: Audit history of all dispatched notifications per booking.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66" name="CustomShape 19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CustomShape 20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168" name="CustomShape 21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06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FINANCIAL CONTROL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172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Cash Flow &amp; Expense Tracking (Net Profit)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173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Comprehensive financial control and true profitability accounting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174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CustomShape 8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CustomShape 9"/>
          <p:cNvSpPr/>
          <p:nvPr/>
        </p:nvSpPr>
        <p:spPr>
          <a:xfrm>
            <a:off x="64008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CustomShape 10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C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79" name="CustomShape 11"/>
          <p:cNvSpPr/>
          <p:nvPr/>
        </p:nvSpPr>
        <p:spPr>
          <a:xfrm>
            <a:off x="140832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Real-Time Cash Flow Monitor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80" name="CustomShape 12"/>
          <p:cNvSpPr/>
          <p:nvPr/>
        </p:nvSpPr>
        <p:spPr>
          <a:xfrm>
            <a:off x="89604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CustomShape 13"/>
          <p:cNvSpPr/>
          <p:nvPr/>
        </p:nvSpPr>
        <p:spPr>
          <a:xfrm>
            <a:off x="896040" y="2624400"/>
            <a:ext cx="4797000" cy="150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Cash Inflow vs Outflow: Tracks liquid cash, GCash, and bank transfer receipts.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Liquidity Balances: Real-time net cash-on-hand calculation.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Payment Breakdown: Visual distribution of revenue across payment channels.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Daily Financial Reconciliation: End-of-day transaction balancing.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82" name="CustomShape 14"/>
          <p:cNvSpPr/>
          <p:nvPr/>
        </p:nvSpPr>
        <p:spPr>
          <a:xfrm>
            <a:off x="624204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CustomShape 15"/>
          <p:cNvSpPr/>
          <p:nvPr/>
        </p:nvSpPr>
        <p:spPr>
          <a:xfrm>
            <a:off x="649836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E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184" name="CustomShape 16"/>
          <p:cNvSpPr/>
          <p:nvPr/>
        </p:nvSpPr>
        <p:spPr>
          <a:xfrm>
            <a:off x="701028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Expense Management &amp; COGS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185" name="CustomShape 17"/>
          <p:cNvSpPr/>
          <p:nvPr/>
        </p:nvSpPr>
        <p:spPr>
          <a:xfrm>
            <a:off x="649836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CustomShape 18"/>
          <p:cNvSpPr/>
          <p:nvPr/>
        </p:nvSpPr>
        <p:spPr>
          <a:xfrm>
            <a:off x="649836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Itemized Categories: Cost of Goods Sold (COGS), Food Ingredients, Labor/Waitstaff, Logistics/Fuel, Utilities, and Rentals.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Net Profit Calculation: True automated formula: Gross Revenue - Total Expenses = Net Profit.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Expense Logging: Date, category, description, and attached invoice amounts.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05966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Monthly Profit Reports: Comparative profit margins across fiscal periods.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187" name="CustomShape 19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CustomShape 20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189" name="CustomShape 21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07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1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ARTIFICIAL INTELLIGENCE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193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AI Intelligence &amp; Smart Forecasting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194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Machine learning insights for demand prediction and portion control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195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CustomShape 8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CustomShape 9"/>
          <p:cNvSpPr/>
          <p:nvPr/>
        </p:nvSpPr>
        <p:spPr>
          <a:xfrm>
            <a:off x="64008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CustomShape 10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F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200" name="CustomShape 11"/>
          <p:cNvSpPr/>
          <p:nvPr/>
        </p:nvSpPr>
        <p:spPr>
          <a:xfrm>
            <a:off x="140832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AI Demand &amp; Volume Forecasting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201" name="CustomShape 12"/>
          <p:cNvSpPr/>
          <p:nvPr/>
        </p:nvSpPr>
        <p:spPr>
          <a:xfrm>
            <a:off x="89604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CustomShape 13"/>
          <p:cNvSpPr/>
          <p:nvPr/>
        </p:nvSpPr>
        <p:spPr>
          <a:xfrm>
            <a:off x="89604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Seasonal Prediction: Machine learning forecasting on peak wedding, holiday, and debut months.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Expected Guest Turnout: Historical trend analysis predicting peak headcount surges.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Capacity Planning: Recommends staffing and equipment allocation per weekend.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Revenue Projections: Forecasts upcoming quarterly revenue based on booking velocity.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203" name="CustomShape 14"/>
          <p:cNvSpPr/>
          <p:nvPr/>
        </p:nvSpPr>
        <p:spPr>
          <a:xfrm>
            <a:off x="624204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CustomShape 15"/>
          <p:cNvSpPr/>
          <p:nvPr/>
        </p:nvSpPr>
        <p:spPr>
          <a:xfrm>
            <a:off x="649836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P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205" name="CustomShape 16"/>
          <p:cNvSpPr/>
          <p:nvPr/>
        </p:nvSpPr>
        <p:spPr>
          <a:xfrm>
            <a:off x="701028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Smart Portion &amp; Menu Analytics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206" name="CustomShape 17"/>
          <p:cNvSpPr/>
          <p:nvPr/>
        </p:nvSpPr>
        <p:spPr>
          <a:xfrm>
            <a:off x="649836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CustomShape 18"/>
          <p:cNvSpPr/>
          <p:nvPr/>
        </p:nvSpPr>
        <p:spPr>
          <a:xfrm>
            <a:off x="6498360" y="2624400"/>
            <a:ext cx="4797000" cy="137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Menu Engineering: Identifies high-margin signature dishes vs underperforming menu items.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Cost Optimization: Recommends recipe portion adjustments to protect profit margins.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Intelligent Insights: Actionable alerts for package pricing optimization.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208" name="CustomShape 19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CustomShape 20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210" name="CustomShape 21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08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KITCHEN OPERATIONS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214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Kitchen Operations &amp; Preparation Kanban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215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Production pipeline management and quality assurance checklists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216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CustomShape 8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CustomShape 9"/>
          <p:cNvSpPr/>
          <p:nvPr/>
        </p:nvSpPr>
        <p:spPr>
          <a:xfrm>
            <a:off x="64008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CustomShape 10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K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221" name="CustomShape 11"/>
          <p:cNvSpPr/>
          <p:nvPr/>
        </p:nvSpPr>
        <p:spPr>
          <a:xfrm>
            <a:off x="140832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Kitchen Kanban Pipeline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222" name="CustomShape 12"/>
          <p:cNvSpPr/>
          <p:nvPr/>
        </p:nvSpPr>
        <p:spPr>
          <a:xfrm>
            <a:off x="89604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CustomShape 13"/>
          <p:cNvSpPr/>
          <p:nvPr/>
        </p:nvSpPr>
        <p:spPr>
          <a:xfrm>
            <a:off x="896040" y="2624400"/>
            <a:ext cx="4797000" cy="169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Visual Order Pipeline: Real-time stages (Pending Prep, Cooking, Plating, Ready for Transport, Dispatched).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Event Detail Cards: Displays event date, call time, venue location, and package tier.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Status Transitions: Drag-and-drop / single-click order progression.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Dispatch Coordination: Syncs kitchen readiness with logistical transport teams.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224" name="CustomShape 14"/>
          <p:cNvSpPr/>
          <p:nvPr/>
        </p:nvSpPr>
        <p:spPr>
          <a:xfrm>
            <a:off x="624204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CustomShape 15"/>
          <p:cNvSpPr/>
          <p:nvPr/>
        </p:nvSpPr>
        <p:spPr>
          <a:xfrm>
            <a:off x="649836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P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226" name="CustomShape 16"/>
          <p:cNvSpPr/>
          <p:nvPr/>
        </p:nvSpPr>
        <p:spPr>
          <a:xfrm>
            <a:off x="701028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Per-Dish Preparation Checklist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227" name="CustomShape 17"/>
          <p:cNvSpPr/>
          <p:nvPr/>
        </p:nvSpPr>
        <p:spPr>
          <a:xfrm>
            <a:off x="649836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CustomShape 18"/>
          <p:cNvSpPr/>
          <p:nvPr/>
        </p:nvSpPr>
        <p:spPr>
          <a:xfrm>
            <a:off x="649836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Recipe Task Breakdown: Interactive sub-task checklists for every dish in the booking.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Quality Standards: Ensures all appetizers, mains, and desserts meet standard execution.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Zero Missed Inclusions: Prevents forgotten sauces, side dishes, or tableware.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Staff Accountability: Records completion timestamps per kitchen station.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229" name="CustomShape 19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CustomShape 20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231" name="CustomShape 21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09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SYSTEM CAPABILITIES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235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Complete 13-Module System Functional Matrix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236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Comprehensive ERP and Kiosk capability overview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237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0f172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CustomShape 8"/>
          <p:cNvSpPr/>
          <p:nvPr/>
        </p:nvSpPr>
        <p:spPr>
          <a:xfrm>
            <a:off x="9711000" y="517680"/>
            <a:ext cx="1737000" cy="15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FULL SYSTEM</a:t>
            </a:r>
            <a:endParaRPr b="0" lang="en-PH" sz="1000" spc="-1" strike="noStrike">
              <a:latin typeface="Arial"/>
            </a:endParaRPr>
          </a:p>
        </p:txBody>
      </p:sp>
      <p:sp>
        <p:nvSpPr>
          <p:cNvPr id="240" name="CustomShape 9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241" name="Table 10"/>
          <p:cNvGraphicFramePr/>
          <p:nvPr/>
        </p:nvGraphicFramePr>
        <p:xfrm>
          <a:off x="640080" y="1691640"/>
          <a:ext cx="10908360" cy="4520520"/>
        </p:xfrm>
        <a:graphic>
          <a:graphicData uri="http://schemas.openxmlformats.org/drawingml/2006/table">
            <a:tbl>
              <a:tblPr/>
              <a:tblGrid>
                <a:gridCol w="2331720"/>
                <a:gridCol w="6382440"/>
                <a:gridCol w="2194560"/>
              </a:tblGrid>
              <a:tr h="3776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  <a:endParaRPr b="0" lang="en-PH" sz="11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Core Functionality</a:t>
                      </a:r>
                      <a:endParaRPr b="0" lang="en-PH" sz="11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Platform Availability</a:t>
                      </a:r>
                      <a:endParaRPr b="0" lang="en-PH" sz="11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Executive Dashboard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Real-time KPIs, Revenue, Net Profit, Capacity alerts, Pipeline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Back-Office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Booking &amp; Kiosk Wizard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6-step guided ordering, package selection, downpayment calculation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+ Tablet Kiosk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Calendar &amp; Scheduling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Visual event timeline, date conflict detection, daily capacity load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Back-Office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Menu &amp; Package Catalog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CRUD packages, pax price matrix, dish categories, photo management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+ Tablet Kiosk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Billing &amp; Invoicing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Invoice generation, downpayment enforcement, balance collection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+ Tablet Kiosk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Receipt &amp; Notifications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PDF receipt generation, SMTP email dispatcher, SMS gateway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+ Tablet (PDF)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Cash Flow Tracker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Inflow/Outflow tracking, payment method breakdown, net balance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Back-Office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Expense &amp; COGS Manager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Food costs, labor wages, logistics, utilities, Net Profit margin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Back-Office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AI Demand &amp; Forecaster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Pax forecasting, ingredient quantity estimator, menu insights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Back-Office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76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Kitchen Kanban &amp; Checklist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Visual preparation cards, per-dish task checklist, order dispatch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Back-Office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Customer CRM &amp; Loyalty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Booking history, automated loyalty tiers (Bronze to VIP), follow-ups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+ Tablet Kiosk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284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Reports &amp; Analytics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Revenue charts, package sales breakdown, PDF/Excel export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Back-Office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08880"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Security, Audit &amp; Backups</a:t>
                      </a:r>
                      <a:endParaRPr b="0" lang="en-PH" sz="10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334155"/>
                          </a:solidFill>
                          <a:latin typeface="Calibri"/>
                        </a:rPr>
                        <a:t>Full change audit logs, 1-click DB backup/restore, Excel data sync</a:t>
                      </a:r>
                      <a:endParaRPr b="0" lang="en-PH" sz="100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6160" rIns="146160"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64748b"/>
                          </a:solidFill>
                          <a:latin typeface="Calibri"/>
                        </a:rPr>
                        <a:t>PC + Tablet Kiosk</a:t>
                      </a:r>
                      <a:endParaRPr b="0" lang="en-PH" sz="950" spc="-1" strike="noStrike">
                        <a:latin typeface="Arial"/>
                      </a:endParaRPr>
                    </a:p>
                  </a:txBody>
                  <a:tcPr marL="146160" marR="1461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2" name="CustomShape 11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3" name="CustomShape 12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244" name="CustomShape 13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10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CustomShape 3"/>
          <p:cNvSpPr/>
          <p:nvPr/>
        </p:nvSpPr>
        <p:spPr>
          <a:xfrm>
            <a:off x="640080" y="329040"/>
            <a:ext cx="7772040" cy="1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e11d48"/>
                </a:solidFill>
                <a:latin typeface="Calibri"/>
              </a:rPr>
              <a:t>ENGINEERING &amp; SECURITY</a:t>
            </a:r>
            <a:endParaRPr b="0" lang="en-PH" sz="1050" spc="-1" strike="noStrike">
              <a:latin typeface="Arial"/>
            </a:endParaRPr>
          </a:p>
        </p:txBody>
      </p:sp>
      <p:sp>
        <p:nvSpPr>
          <p:cNvPr id="248" name="CustomShape 4"/>
          <p:cNvSpPr/>
          <p:nvPr/>
        </p:nvSpPr>
        <p:spPr>
          <a:xfrm>
            <a:off x="640080" y="548640"/>
            <a:ext cx="8777880" cy="3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Georgia"/>
              </a:rPr>
              <a:t>Technical Specifications &amp; Architecture</a:t>
            </a:r>
            <a:endParaRPr b="0" lang="en-PH" sz="2500" spc="-1" strike="noStrike">
              <a:latin typeface="Arial"/>
            </a:endParaRPr>
          </a:p>
        </p:txBody>
      </p:sp>
      <p:sp>
        <p:nvSpPr>
          <p:cNvPr id="249" name="CustomShape 5"/>
          <p:cNvSpPr/>
          <p:nvPr/>
        </p:nvSpPr>
        <p:spPr>
          <a:xfrm>
            <a:off x="640080" y="1069920"/>
            <a:ext cx="8777880" cy="19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</a:rPr>
              <a:t>Engineering standards, offline reliability, and data privacy</a:t>
            </a:r>
            <a:endParaRPr b="0" lang="en-PH" sz="1250" spc="-1" strike="noStrike">
              <a:latin typeface="Arial"/>
            </a:endParaRPr>
          </a:p>
        </p:txBody>
      </p:sp>
      <p:sp>
        <p:nvSpPr>
          <p:cNvPr id="250" name="CustomShape 6"/>
          <p:cNvSpPr/>
          <p:nvPr/>
        </p:nvSpPr>
        <p:spPr>
          <a:xfrm>
            <a:off x="9281160" y="384120"/>
            <a:ext cx="2267280" cy="42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CustomShape 7"/>
          <p:cNvSpPr/>
          <p:nvPr/>
        </p:nvSpPr>
        <p:spPr>
          <a:xfrm>
            <a:off x="9473040" y="525960"/>
            <a:ext cx="136800" cy="136800"/>
          </a:xfrm>
          <a:prstGeom prst="ellipse">
            <a:avLst/>
          </a:prstGeom>
          <a:solidFill>
            <a:srgbClr val="0f172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CustomShape 8"/>
          <p:cNvSpPr/>
          <p:nvPr/>
        </p:nvSpPr>
        <p:spPr>
          <a:xfrm>
            <a:off x="9711000" y="517680"/>
            <a:ext cx="1737000" cy="15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f172a"/>
                </a:solidFill>
                <a:latin typeface="Calibri"/>
              </a:rPr>
              <a:t>FULL SYSTEM</a:t>
            </a:r>
            <a:endParaRPr b="0" lang="en-PH" sz="1000" spc="-1" strike="noStrike">
              <a:latin typeface="Arial"/>
            </a:endParaRPr>
          </a:p>
        </p:txBody>
      </p:sp>
      <p:sp>
        <p:nvSpPr>
          <p:cNvPr id="253" name="CustomShape 9"/>
          <p:cNvSpPr/>
          <p:nvPr/>
        </p:nvSpPr>
        <p:spPr>
          <a:xfrm>
            <a:off x="640080" y="148140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CustomShape 10"/>
          <p:cNvSpPr/>
          <p:nvPr/>
        </p:nvSpPr>
        <p:spPr>
          <a:xfrm>
            <a:off x="64008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5" name="CustomShape 11"/>
          <p:cNvSpPr/>
          <p:nvPr/>
        </p:nvSpPr>
        <p:spPr>
          <a:xfrm>
            <a:off x="89604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T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256" name="CustomShape 12"/>
          <p:cNvSpPr/>
          <p:nvPr/>
        </p:nvSpPr>
        <p:spPr>
          <a:xfrm>
            <a:off x="140832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Technology Stack &amp; Architecture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257" name="CustomShape 13"/>
          <p:cNvSpPr/>
          <p:nvPr/>
        </p:nvSpPr>
        <p:spPr>
          <a:xfrm>
            <a:off x="89604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CustomShape 14"/>
          <p:cNvSpPr/>
          <p:nvPr/>
        </p:nvSpPr>
        <p:spPr>
          <a:xfrm>
            <a:off x="89604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Back-Office PC System: Native Python/Qt Desktop Application compiled to standalone Windows .exe.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Tablet Kiosk Application: HTML5 / Vanilla CSS / JS + Client-Side SQLite WASM + Standalone Android APK (7.1 MB).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Offline-First Reliability: Embedded relational database engine requires zero internet connection.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b45309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HD Media Processor: Full HD 1920x1440 bicubic compression for crisp food and package photos.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259" name="CustomShape 15"/>
          <p:cNvSpPr/>
          <p:nvPr/>
        </p:nvSpPr>
        <p:spPr>
          <a:xfrm>
            <a:off x="6242040" y="1691640"/>
            <a:ext cx="5309280" cy="466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0" name="CustomShape 16"/>
          <p:cNvSpPr/>
          <p:nvPr/>
        </p:nvSpPr>
        <p:spPr>
          <a:xfrm>
            <a:off x="6498360" y="1947600"/>
            <a:ext cx="365400" cy="365400"/>
          </a:xfrm>
          <a:prstGeom prst="roundRect">
            <a:avLst>
              <a:gd name="adj" fmla="val 32000"/>
            </a:avLst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Georgia"/>
              </a:rPr>
              <a:t>S</a:t>
            </a:r>
            <a:endParaRPr b="0" lang="en-PH" sz="1300" spc="-1" strike="noStrike">
              <a:latin typeface="Arial"/>
            </a:endParaRPr>
          </a:p>
        </p:txBody>
      </p:sp>
      <p:sp>
        <p:nvSpPr>
          <p:cNvPr id="261" name="CustomShape 17"/>
          <p:cNvSpPr/>
          <p:nvPr/>
        </p:nvSpPr>
        <p:spPr>
          <a:xfrm>
            <a:off x="7010280" y="2027160"/>
            <a:ext cx="4285080" cy="2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0f172a"/>
                </a:solidFill>
                <a:latin typeface="Georgia"/>
              </a:rPr>
              <a:t>Security &amp; Data Governance</a:t>
            </a:r>
            <a:endParaRPr b="0" lang="en-PH" sz="1350" spc="-1" strike="noStrike">
              <a:latin typeface="Arial"/>
            </a:endParaRPr>
          </a:p>
        </p:txBody>
      </p:sp>
      <p:sp>
        <p:nvSpPr>
          <p:cNvPr id="262" name="CustomShape 18"/>
          <p:cNvSpPr/>
          <p:nvPr/>
        </p:nvSpPr>
        <p:spPr>
          <a:xfrm>
            <a:off x="6498360" y="2477880"/>
            <a:ext cx="47970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3" name="CustomShape 19"/>
          <p:cNvSpPr/>
          <p:nvPr/>
        </p:nvSpPr>
        <p:spPr>
          <a:xfrm>
            <a:off x="6498360" y="2624400"/>
            <a:ext cx="4797000" cy="187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Complete Change Audit Log: Records actor, action type, timestamp, and JSON data states.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100% Data Privacy: Database stored locally on physical business hardware.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Zero Cloud Vulnerabilities: Immune to external cloud server outages or data breaches.</a:t>
            </a:r>
            <a:endParaRPr b="0" lang="en-PH" sz="110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1001"/>
              </a:spcAft>
            </a:pPr>
            <a:r>
              <a:rPr b="0" lang="en-US" sz="800" spc="-1" strike="noStrike">
                <a:solidFill>
                  <a:srgbClr val="e11d48"/>
                </a:solidFill>
                <a:latin typeface="Calibri"/>
              </a:rPr>
              <a:t>●  </a:t>
            </a:r>
            <a:r>
              <a:rPr b="0" lang="en-US" sz="1100" spc="-1" strike="noStrike">
                <a:solidFill>
                  <a:srgbClr val="334155"/>
                </a:solidFill>
                <a:latin typeface="Calibri"/>
              </a:rPr>
              <a:t>1-Click Backup &amp; Sync: Automated SQLite .db backups and 2-way master Excel synchronization.</a:t>
            </a:r>
            <a:endParaRPr b="0" lang="en-PH" sz="1100" spc="-1" strike="noStrike">
              <a:latin typeface="Arial"/>
            </a:endParaRPr>
          </a:p>
        </p:txBody>
      </p:sp>
      <p:sp>
        <p:nvSpPr>
          <p:cNvPr id="264" name="CustomShape 20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5" name="CustomShape 21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266" name="CustomShape 22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11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CustomShape 2"/>
          <p:cNvSpPr/>
          <p:nvPr/>
        </p:nvSpPr>
        <p:spPr>
          <a:xfrm>
            <a:off x="0" y="0"/>
            <a:ext cx="12191400" cy="4032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9" name="CustomShape 3"/>
          <p:cNvSpPr/>
          <p:nvPr/>
        </p:nvSpPr>
        <p:spPr>
          <a:xfrm>
            <a:off x="1371600" y="2148840"/>
            <a:ext cx="9445320" cy="73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4800" spc="-1" strike="noStrike">
                <a:solidFill>
                  <a:srgbClr val="0f172a"/>
                </a:solidFill>
                <a:latin typeface="Georgia"/>
              </a:rPr>
              <a:t>Thank You</a:t>
            </a:r>
            <a:endParaRPr b="0" lang="en-PH" sz="4800" spc="-1" strike="noStrike">
              <a:latin typeface="Arial"/>
            </a:endParaRPr>
          </a:p>
        </p:txBody>
      </p:sp>
      <p:sp>
        <p:nvSpPr>
          <p:cNvPr id="270" name="CustomShape 4"/>
          <p:cNvSpPr/>
          <p:nvPr/>
        </p:nvSpPr>
        <p:spPr>
          <a:xfrm>
            <a:off x="5870520" y="3063240"/>
            <a:ext cx="456840" cy="32760"/>
          </a:xfrm>
          <a:prstGeom prst="rect">
            <a:avLst/>
          </a:prstGeom>
          <a:solidFill>
            <a:srgbClr val="e11d4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CustomShape 5"/>
          <p:cNvSpPr/>
          <p:nvPr/>
        </p:nvSpPr>
        <p:spPr>
          <a:xfrm>
            <a:off x="1371600" y="3246120"/>
            <a:ext cx="9445320" cy="22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</a:t>
            </a:r>
            <a:endParaRPr b="0" lang="en-PH" sz="1500" spc="-1" strike="noStrike">
              <a:latin typeface="Arial"/>
            </a:endParaRPr>
          </a:p>
        </p:txBody>
      </p:sp>
      <p:sp>
        <p:nvSpPr>
          <p:cNvPr id="272" name="CustomShape 6"/>
          <p:cNvSpPr/>
          <p:nvPr/>
        </p:nvSpPr>
        <p:spPr>
          <a:xfrm>
            <a:off x="3535560" y="3977640"/>
            <a:ext cx="5120280" cy="56664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CustomShape 7"/>
          <p:cNvSpPr/>
          <p:nvPr/>
        </p:nvSpPr>
        <p:spPr>
          <a:xfrm>
            <a:off x="640080" y="6428160"/>
            <a:ext cx="10911240" cy="1116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4" name="CustomShape 8"/>
          <p:cNvSpPr/>
          <p:nvPr/>
        </p:nvSpPr>
        <p:spPr>
          <a:xfrm>
            <a:off x="640080" y="6492240"/>
            <a:ext cx="73148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</a:rPr>
              <a:t>Jayraldine's Catering Management &amp; Self-Service Kiosk System  |  </a:t>
            </a:r>
            <a:endParaRPr b="0" lang="en-PH" sz="850" spc="-1" strike="noStrike">
              <a:latin typeface="Arial"/>
            </a:endParaRPr>
          </a:p>
        </p:txBody>
      </p:sp>
      <p:sp>
        <p:nvSpPr>
          <p:cNvPr id="275" name="CustomShape 9"/>
          <p:cNvSpPr/>
          <p:nvPr/>
        </p:nvSpPr>
        <p:spPr>
          <a:xfrm>
            <a:off x="10058400" y="6492240"/>
            <a:ext cx="1490040" cy="1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</a:rPr>
              <a:t>12 / 12</a:t>
            </a:r>
            <a:endParaRPr b="0" lang="en-PH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en-PH</dc:language>
  <cp:lastModifiedBy/>
  <dcterms:modified xsi:type="dcterms:W3CDTF">2026-08-28T13:46:32Z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